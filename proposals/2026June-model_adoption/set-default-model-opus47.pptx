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2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0" r:id="rId3"/>
    <p:sldId id="261" r:id="rId4"/>
    <p:sldId id="257" r:id="rId5"/>
    <p:sldId id="262" r:id="rId6"/>
    <p:sldId id="263" r:id="rId7"/>
    <p:sldId id="258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88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4:40:47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929 772 24575,'89'-1'0,"62"0"0,-28 0 0,23 0 0,1 0 0,-19 1 0,22 0 0,5 0 0,8 0 0,51 0 0,-46 0 0,0 0 0,29 0 0,55 0 0,-46 2 0,-46-1 0,-5 0 0,-2 1 0,66-1 0,-87 1 0,-14-2 0,-6 2 0,44-2 0,-83 0 0,85 2 0,-53-2 0,24 2 0,15-2 0,-55 0 0,17 0 0,-38 0 0,-7 0 0,-7 0 0,-6 0 0,-4 1 0,27-1 0,-4 1 0,6-1 0,-20 0 0,-2 0 0,13 2 0,8-2 0,18 1 0,-33 0 0,-4-1 0,-18 0 0,-10 0 0,24 0 0,-21 0 0,16-1 0,-26 1 0,0 0 0,2-2 0,-3 1 0,1 0 0,-3-1 0,-9 1 0,10-2 0,-5 0 0,-1 2 0,14-3 0,-9 2 0,13-2 0,-11 1 0,0 1 0,1-1 0,0-1 0,5-1 0,-1-2 0,-6-1 0,5-4 0,-5-5 0,3-4 0,-4 3 0,-4-27 0,-6 7 0,-1-26 0,-6 14 0,-3 0 0,-5-1 0,-7 8 0,-16-15 0,-3 19 0,-7-4 0,-2 14 0,4 4 0,-4 3 0,-10 0 0,-14 4 0,-14 1 0,-12 6 0,-34 1 0,-26 5 0,-38-2 0,-58 4 0,110-1 0,-5 1 0,-18 2 0,-3 1 0,3-2 0,-1 0 0,2 2 0,3 0 0,11 1 0,5 0 0,-110 2 0,-12 2 0,34 1 0,-33 2 0,15 0 0,40-3 0,47 1 0,10-4 0,8 0 0,-8-1 0,-96 1 0,37 0 0,-55 1 0,66 2 0,54 0 0,38 0 0,18 0 0,14-2 0,15 0 0,-2 1 0,24-2 0,-7 1 0,-2 2 0,0 1 0,2 1 0,-20 9 0,37-6 0,-34 18 0,35-6 0,-6 19 0,12-3 0,9 24 0,9-21 0,10 18 0,-1-35 0,2 1 0,0-17 0,-3-3 0,6 2 0,16 5 0,-4-3 0,41 8 0,-39-13 0,31 8 0,-40-9 0,13 4 0,-4-1 0,4 1 0,-1-2 0,10 4 0,17 1 0,4 1 0,47 7 0,-24-5 0,-1-1 0,-31-5 0,-35-5 0,-6-1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4:40:52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 24575,'40'-2'0,"13"-2"0,0 3 0,8 1 0,9 0 0,3 1 0,22-1 0,1 2 0,-8 0 0,-3 1 0,-16-2 0,-1 1 0,1-1 0,-3 1 0,18 0 0,-24-2 0,2 0 0,-11 1 0,0 0 0,47-1 0,-40 0 0,1 0 0,-1 0 0,-1 0 0,31 0 0,-19 0 0,-3 0 0,-8 0 0,-6 0 0,-1 0 0,0 0 0,17-1 0,12 1 0,8-2 0,-5 2 0,9 1 0,-8 2 0,-28-1 0,0 0 0,23 2 0,-7-2 0,0-2 0,8 0 0,-17 1 0,3 0 0,-13-1 0,-2 0 0,37 2 0,6-2 0,-9 0 0,-4 0 0,-8 0 0,-2-3 0,7 0 0,-15-1 0,7 0 0,6 3 0,-6 1 0,23 0 0,-23 0 0,0 0 0,-29 0 0,-15 0 0,36 1 0,-26 0 0,40 0 0,-35 0 0,-7-1 0,-12 1 0,-6-1 0,-6 0 0,-4 0 0,-4 0 0,-1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4:54:40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24575,'29'9'0,"48"13"0,-29-8 0,3 0 0,19 3 0,-1-1 0,-19-4 0,-2-2 0,3-2 0,-4-2 0,-3-1 0,-4-2 0,-32-1 0,-4-2 0,-4 4 0,-2 6 0,2 2 0,-1 4 0,0-6 0,1-2 0,-1-6 0,0 9 0,1-1 0,-1 9 0,0 4 0,-6 10 0,-5 27 0,0-13 0,-2 4 0,0 12 0,0 3 0,-2 0 0,1-3 0,-3 31 0,8-44 0,8-37 0,1-9 0,1-4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4:57:55.2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3615 24575,'22'-16'0,"37"-25"0,-3 4 0,8-5 0,-10 6 0,4-3 0,2-1 0,13-9 0,5-3 0,3-3 0,-7 4 0,4-3 0,2-2 0,-2 0-1159,1-3 0,0-2 0,0 0 0,0-2 1159,-11 8 0,1-1 0,0 0 0,-1-1 0,-2 1 0,7-8 0,-1 1 0,-3 0 0,-3 1 178,7-10 0,-4 2 0,-2 1-178,-10 10 0,-1 2 0,-5 2 470,10-12 1,-5 1-471,-6 3 0,-1 0 0,0 0 0,0 0 0,4-9 0,0 2 0,-7 11 0,0 2 0,5-7 0,-3 5 2372,11-12-2372,-22 27 0,0 2 789,17-20-789,6-12 0,-15 19 0,-5 2 0,-7 14 0,0 3 0,9-9 0,7-3 0,3 0 0,20-3 0,-6 6 0,9-2 0,-6 4 0,-19 9 0,10-1 0,-16 8 0,2 0 0,-3 4 0,-14 6 0,4 3 0,-10 4 0,1 1 0,-1-2 0,-1 3 0,-1 0 0,-7 5 0,2-1 0,-4 3 0,6-4 0,-2 3 0,2-2 0,-6 2 0,3-1 0,-9 1 0,9-4 0,-11 3 0,3-1 0,-6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4:58:11.3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24575,'15'-1'0,"28"-1"0,21 2 0,14 0 0,-14 1 0,11 0 0,1 1 0,-7 1 0,0 0 0,4 1-536,1-1 0,4 1 0,3 1 0,1 0 536,3 3 0,1 1 0,1 1 0,-1 0 0,-3-1 0,-1 0 0,0 0 0,0 0 0,0 2 0,1 1 0,-1-1 0,1 0 0,2 0 0,1-2 0,-1 1 0,-4 0 0,12 2 0,-3 0 0,-2 0 34,-7-2 0,-2-1 0,-1 1-34,-3 0 0,-2 1 0,-4-2 0,4 0 0,-3 0 0,1 1 0,0 0 0,1 0 0,1-1 0,1-1 0,0 0 797,-2 1 1,1-1-798,3-1 0,-3-1 223,-20-1 1,-4 0-224,4 0 0,-4 1 0,16 3 0,-20-1 0,-28-5 0,-10-2 0,-6-1 0,4 0 0,6 1 0,13 3 0,18 3 0,-1 1 0,16 2 0,-10-2 0,30 6 0,-24-5 0,4 0 0,6 4 0,1 0 0,-3-4 0,-3 0 0,33 9 0,-54-14 0,-14-1 0,-16-3 0,6 3 0,5-1 0,20 3 0,-12-1 0,4-1 0,-16-1 0,-3-1 0,9 3 0,5-1 0,0 0 0,0 1 0,-15-2 0,-1 0 0,-4-2 0,2 2 0,1-2 0,-3 1 0,-4-8 0,-14-10 0,-6-14 0,1 7 0,-23-33 0,18 27 0,-18-28 0,12 15 0,4 5 0,8 9 0,1 4 0,11 16 0,-4-11 0,5 7 0,-3-9 0,2 6 0,3 5 0,1 6 0,0 3 0,1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4:58:12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614 1 24575,'-23'4'0,"-2"1"0,-21 1 0,-42 4 0,7-4 0,28-2 0,1 1 0,-26 3 0,19-1 0,18-1 0,15-1 0,15-2 0,0-1 0,3 1 0,-1 0 0,7-2 0,1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5:20:59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1 585 8191,'51'-22'0,"0"-1"0,-1 2 0,3 0 2360,26-7 0,8 0-2360,-22 9 0,1 1 0,5 0 0,14-2 0,5 1 0,3 1 408,-18 4 0,3 0 0,1 0 0,-1 1-408,3 1 0,1 0 0,0 0 0,1 1 0,2-1 0,2 2 0,-1-1 0,2 0 0,2 0 0,0 0 0,2 0 0,2 1-28,-11 1 0,0 1 0,2-1 0,2 2 1,2-1 27,-4 2 0,2 0 0,1 1 0,1 0 0,2 0 0,-1 0 250,5 0 1,0 0 0,1 0 0,1 1 0,3-1 0,1 1-251,-14 1 0,3 1 0,2 0 0,1 0 0,-1 0 0,1 0 0,-3 0 0,-1 1 0,3-1 0,-1 0 0,-2 1 0,0-1 0,-1 1 0,-1 0 0,-1-1-219,8 1 1,-2 0-1,-1 0 1,0 0-1,-3 0 1,-2 1 218,6-1 0,-1 1 0,-2 0 0,-4-1 0,-4 1 7,16 0 1,-6-1 0,4 1-8,-7-1 0,4 1 0,1-1 0,-2 1 0,-7-1 0,-2 1 0,1 0 0,0-1 0,9 1 0,1 0 0,-1 0 0,-3 0 0,12 0 0,-4 0 0,2 0 0,-19 2 0,2-1 0,-1 2 0,-1-1 0,20 1 0,-1 1 0,2 0 0,-18 0 0,2 1 0,0-1 0,1 0 0,-1-1 0,1 0 0,-1 0 0,-1-1 0,-5 1 0,0-2 0,-3 1 0,-1-1 625,10 0 1,-3-2 0,-3 1-626,-8 0 0,-2 0 0,1 0 0,3 1 0,1 1 0,-3 0 0,17 0 0,2 1 0,-13-1 0,5 2 0,3 0 643,-10 0 0,4 2 0,1 0 0,-2 0-643,15 1 0,-1 0 0,2 1 0,-10 0 0,3 1 0,1 1 0,-2-1 0,-6 1 0,-1 0 0,-1 1 0,-2-1 0,14 4 0,-2 0 0,1 0 645,12 3 0,0 0 0,-9-1-645,-13-2 0,1 1 0,3 3 0,13 4 0,0 1 0,-16-4 0,-14-2 0,1 0 0,12 3 0,15 3 0,1 2 0,-15-4 0,-5 2 0,-7 0 714,1-1 1,-2 2-715,-12 1 0,-4 2 325,29 26-325,-25-11 752,-7 1 1,3 3-753,-13-9 0,1 1 155,16 17 1,2 2-156,-3-5 0,-3 0 0,-7-7 0,-2 0 0,-2-3 0,-2 0 0,27 35 0,-26-27 0,-1 2 0,-1-3 0,-1 1 0,3 5 0,-1 0 0,-7-6 0,-1 0 0,-1 7 0,-2 1 0,-6-4 0,-1 1 0,4 12 0,-1 2 0,-5-4 0,-2-1 0,-2-10 0,-3 0 0,-1 7 0,-2-3 0,2 27 0,-8-32 0,-1 0 0,-1 36 0,-1-34 0,-1 0 0,-3 41 0,-3-3 0,-1-19 0,-1-17 0,-16 27 0,4-26 0,-1-4 0,-2-1 0,-9 8 0,-18 17 0,6-25 0,-10-1 0,-19 5 0,1-5 0,-8 2 0,32-21 0,-2 1 0,0-2 0,-4 1 0,-19 10 0,-1 0 0,18-11 0,-2 1 0,1 2 0,-4 1 0,4-3 0,7-5 0,0-1 0,-29 14 0,-4-1 0,15-14 0,1-3 0,-5-1 0,-3-3 0,-7-2 0,-5-2 0,24-4 0,-3-2 0,-3 0-378,-20 0 0,-4-2 1,1 1 377,6 1 0,1 0 0,-1 0 0,-4-1 0,-2-1 0,2 1 0,5 1 0,1 0 0,1 0 0,8 0 0,1 0 0,-2 1 0,-17 1 0,-2 2 0,4-1-135,21-3 1,4 0-1,-2 0 135,-7-1 0,-1 0 0,3-2 0,-16-1 0,-2-2 0,9 3 0,-4 1 0,0 0 0,6 0 0,0 0 0,4 0 0,-19 5 0,-5-1 0,22-3 0,-8-1 0,0 0 0,8-2-587,-13-1 1,-3 0 586,25-1 0,-9 0 0,-5 0 0,1 0 0,4-2 0,-2-2 0,2-1 0,2 0 0,0 0 0,1 2 0,0 1 0,2-1 0,0-1 0,-19-2 0,2-2 0,0 1 0,2 1 0,0 0 0,8 0-34,3 0 1,2-1 33,4 0 0,-4 1 0,1-1 0,10 0 0,0 0 0,-3-1-124,-24-3 1,-6 0-1,-1-1 124,22 2 0,-1-1 0,-1-1 0,-3 1-304,5 0 0,-2 0 1,-1-1-1,-1 0 0,3 1 304,-12-1 0,1-1 0,1 1 0,1 0 0,3 2 0,1-1 0,1 1 0,-2 0 19,-3 1 0,-3 0 0,3 1 0,5 0-19,1 0 0,5 0 0,0 0-121,-4 1 1,0 0 0,1 0 120,7 0 0,2 0 0,0 0 0,-27-1 0,-1 0 0,27 2 0,-1 0 0,-1 0 0,-3 1 0,0-1 0,1 1 0,6-1 0,1 0 0,-1 0 0,-6 1 0,-2 0 0,3 0 0,-20-3 0,1 0 630,-3 1 1,3 1-631,24-1 0,2 0 1002,-9 1 1,0-1-1003,1-1 0,-2 0 0,-5 1 0,-1 0 0,-5-2 0,-2 0 0,-5 0 0,-1-1 0,2-1 0,-2-1 177,28 3 0,-2-1 1,-1-1-178,-3-2 0,-2 0 0,2-1 0,7 1 0,0-1 0,3 0 262,-26-6 0,4-2-262,3-2 0,6-2 0,22 4 0,3 0 0,1-1 0,3-2 0,5-4 0,4-2 0,-18-19 315,23 12 0,0-2-315,4-3 0,1-2 0,0-6 0,2-2 0,3 5 0,2-2 0,2-8 0,4 2 0,-1-4 0,8-24 0,4-9 0,3 28 0,1-2 0,-2-7 0,-1-6 0,1 2 0,0-10 0,-1 2 0,1-3 0,-1 1 0,2 7 0,0 1 0,2-6 0,1-1 0,0-4 0,1 0 0,-1 8 0,1 2 0,1 11 0,1 1 0,2-11 0,2 2 0,1 12 0,0 3 0,-1 6 0,2-4 0,4-4 0,2-7 0,-1 6 0,-1 0 0,2 1 0,1-2 0,2-4 0,-1 5 0,1-1 0,-2 8 0,13-25 0,-5 26 0,18-10 0,3 3 0,-13 25 0,1 0 0,28-27 0,-8 11 0,-4 5 0,-13 13 0,-12 8 0,-9 12 0,-10 9 0,-5 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5:21:04.6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24575,'13'8'0,"38"16"0,6 0 0,13 5 0,6 3 0,8 4 0,9 4 0,-14-5 0,7 3 0,4 2 0,0 1 0,-3-3-879,-10-3 1,-3-1 0,1-1-1,6 3 1,9 3 878,-17-9 0,8 3 0,5 2 0,6 2 0,2 1 0,2 0 0,-1 0 0,-2-1 0,-4-2 0,-5-1 0,-7-3-509,13 5 1,-9-3-1,-4-1 1,-1-1 0,4 1-1,8 2 509,-4-1 0,6 1 0,6 2 0,2 0 0,1 1 0,-1-2 0,-5 0 0,-5-3 0,-8-2 0,9 4 0,-8-3 0,-4-2 0,-3-1 0,-1-1 160,4 1 1,-4-2 0,-1 0 0,1 0-161,3 3 0,1 0 0,-1 0 0,-3-1 0,13 5 0,-3-2 0,0-1 0,-6 0 0,0-2 0,0 0-144,1 1 0,0-1 1,0-2 143,-4-1 0,-1-2 0,1-1 0,5 3 0,2-1 0,-5-2 0,4 1 0,-3-2 849,2 0 1,-5-1-850,15 0 3642,-3 4-3642,-31-9 0,1 1 622,3 1 0,-1 0-622,-3-2 0,-2-2 646,31 7-646,-15-3 0,6 2 0,-2 2 0,5 1 0,-10-2 0,3 0 0,0 0 0,0-1 0,-1 0 0,-6-2 0,-4-1 0,-6-1 0,28 2 0,-72-14 0,-9-2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8T05:21:06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1122 1 24575,'10'25'0,"7"4"0,23 30 0,16 12 0,-7-9 0,-12-18 0,0 0 0,15 13 0,15 16 0,-17-24 0,-15-14 0,-14-16 0,-10-7 0,-3-5 0,-6-2 0,1-1 0,-1 0 0,-1 0 0,-1 0 0,0-2 0,1 3 0,1-2 0,0 4 0,0-2 0,-1-2 0,-1 0 0,-4 3 0,-16 9 0,-22 11 0,-44 17 0,15-14 0,-7 1 0,-3 0 0,-4 0 0,14-6 0,-3 0 0,4-1 0,-4 1 0,1-1 0,-21 8 0,5-3 0,40-12 0,2-2 0,-10 3 0,3-1 0,-14 0 0,1-4 0,7-1 0,-37 7 0,58-11 0,-25 6 0,60-12 0,-5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245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9283A-F81E-7E87-5666-D24AF1857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ED8C1D-38BB-D418-DDC5-AD39E145D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89E12-23FE-30C2-F698-38CA7889B5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53981-5F42-1173-BD95-22F45AD1F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2997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9AC50-5589-9DD2-753D-E32DAF5F7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2897B-4C30-8ED2-5B55-49812DCBE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9944D-C3B4-752E-C2FF-4EE5C85DB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25CD9-9D45-28C1-5679-C378D3473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758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customXml" Target="../ink/ink4.xml"/><Relationship Id="rId12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customXml" Target="../ink/ink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customXml" Target="../ink/ink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customXml" Target="../ink/ink7.xml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customXml" Target="../ink/ink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57200" y="118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18872"/>
            <a:ext cx="9948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in Terminal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Claude Code 預設 model = Opus 4.7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4399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Claude Code in Terminal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1762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Claude 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terminal, run `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</a:t>
            </a:r>
            <a:endParaRPr lang="en-US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9D649F3-C1A7-14F9-28A2-20EF45D20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178" y="686903"/>
            <a:ext cx="6556022" cy="488816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409E276-0ED2-EEA2-D80B-B8816B7FC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422" y="1110403"/>
            <a:ext cx="5765800" cy="12319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589CB22-F9E8-C627-DF37-26A6D84FD7E8}"/>
                  </a:ext>
                </a:extLst>
              </p14:cNvPr>
              <p14:cNvContentPartPr/>
              <p14:nvPr/>
            </p14:nvContentPartPr>
            <p14:xfrm>
              <a:off x="6841587" y="1537493"/>
              <a:ext cx="2498822" cy="283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589CB22-F9E8-C627-DF37-26A6D84FD7E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832585" y="1528853"/>
                <a:ext cx="2516465" cy="30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E3EEF36-DFFB-635B-22FB-3ECAB84FCDF2}"/>
                  </a:ext>
                </a:extLst>
              </p14:cNvPr>
              <p14:cNvContentPartPr/>
              <p14:nvPr/>
            </p14:nvContentPartPr>
            <p14:xfrm>
              <a:off x="9413787" y="1825133"/>
              <a:ext cx="1676880" cy="122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E3EEF36-DFFB-635B-22FB-3ECAB84FCDF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404787" y="1816133"/>
                <a:ext cx="1694520" cy="2988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Rounded Rectangular Callout 35">
            <a:extLst>
              <a:ext uri="{FF2B5EF4-FFF2-40B4-BE49-F238E27FC236}">
                <a16:creationId xmlns:a16="http://schemas.microsoft.com/office/drawing/2014/main" id="{E8E9F72A-8473-F0A5-ECB1-0D9FA878229F}"/>
              </a:ext>
            </a:extLst>
          </p:cNvPr>
          <p:cNvSpPr/>
          <p:nvPr/>
        </p:nvSpPr>
        <p:spPr>
          <a:xfrm>
            <a:off x="8736189" y="1039130"/>
            <a:ext cx="948267" cy="244264"/>
          </a:xfrm>
          <a:prstGeom prst="wedgeRoundRectCallout">
            <a:avLst>
              <a:gd name="adj1" fmla="val -47024"/>
              <a:gd name="adj2" fmla="val 85608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W" dirty="0"/>
              <a:t>version</a:t>
            </a:r>
          </a:p>
        </p:txBody>
      </p:sp>
      <p:sp>
        <p:nvSpPr>
          <p:cNvPr id="37" name="Rounded Rectangular Callout 36">
            <a:extLst>
              <a:ext uri="{FF2B5EF4-FFF2-40B4-BE49-F238E27FC236}">
                <a16:creationId xmlns:a16="http://schemas.microsoft.com/office/drawing/2014/main" id="{EA9B67B0-74A0-5668-CB08-9BB46CDA3AE1}"/>
              </a:ext>
            </a:extLst>
          </p:cNvPr>
          <p:cNvSpPr/>
          <p:nvPr/>
        </p:nvSpPr>
        <p:spPr>
          <a:xfrm>
            <a:off x="7787922" y="1835996"/>
            <a:ext cx="1625865" cy="340276"/>
          </a:xfrm>
          <a:prstGeom prst="wedgeRoundRectCallout">
            <a:avLst>
              <a:gd name="adj1" fmla="val -31548"/>
              <a:gd name="adj2" fmla="val -76148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r>
              <a:rPr lang="en-TW" dirty="0"/>
              <a:t>odel &amp; effort</a:t>
            </a:r>
          </a:p>
        </p:txBody>
      </p:sp>
      <p:sp>
        <p:nvSpPr>
          <p:cNvPr id="38" name="Rounded Rectangular Callout 37">
            <a:extLst>
              <a:ext uri="{FF2B5EF4-FFF2-40B4-BE49-F238E27FC236}">
                <a16:creationId xmlns:a16="http://schemas.microsoft.com/office/drawing/2014/main" id="{86488B3D-48E7-40F8-3A8C-26D240FCB80E}"/>
              </a:ext>
            </a:extLst>
          </p:cNvPr>
          <p:cNvSpPr/>
          <p:nvPr/>
        </p:nvSpPr>
        <p:spPr>
          <a:xfrm>
            <a:off x="10014891" y="1926463"/>
            <a:ext cx="1075776" cy="269381"/>
          </a:xfrm>
          <a:prstGeom prst="wedgeRoundRectCallout">
            <a:avLst>
              <a:gd name="adj1" fmla="val -31548"/>
              <a:gd name="adj2" fmla="val -76148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Account</a:t>
            </a:r>
            <a:endParaRPr lang="en-TW" dirty="0"/>
          </a:p>
        </p:txBody>
      </p:sp>
      <p:sp>
        <p:nvSpPr>
          <p:cNvPr id="39" name="Rounded Rectangular Callout 38">
            <a:extLst>
              <a:ext uri="{FF2B5EF4-FFF2-40B4-BE49-F238E27FC236}">
                <a16:creationId xmlns:a16="http://schemas.microsoft.com/office/drawing/2014/main" id="{A06DBB2D-CA2C-1177-AF0D-0EE4793C912C}"/>
              </a:ext>
            </a:extLst>
          </p:cNvPr>
          <p:cNvSpPr/>
          <p:nvPr/>
        </p:nvSpPr>
        <p:spPr>
          <a:xfrm>
            <a:off x="6570594" y="2145315"/>
            <a:ext cx="1070798" cy="686785"/>
          </a:xfrm>
          <a:prstGeom prst="wedgeRoundRectCallout">
            <a:avLst>
              <a:gd name="adj1" fmla="val 15893"/>
              <a:gd name="adj2" fmla="val -74504"/>
              <a:gd name="adj3" fmla="val 16667"/>
            </a:avLst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Current folder</a:t>
            </a:r>
            <a:endParaRPr lang="en-TW" dirty="0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02A97245-9F93-632F-10D8-D445229312AA}"/>
              </a:ext>
            </a:extLst>
          </p:cNvPr>
          <p:cNvSpPr/>
          <p:nvPr/>
        </p:nvSpPr>
        <p:spPr>
          <a:xfrm>
            <a:off x="457200" y="868680"/>
            <a:ext cx="5288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Terminal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953084-B42A-D7C7-11A4-A5A0EA042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1440" y="776165"/>
            <a:ext cx="3814470" cy="2784564"/>
          </a:xfrm>
          <a:prstGeom prst="rect">
            <a:avLst/>
          </a:prstGeom>
        </p:spPr>
      </p:pic>
      <p:sp>
        <p:nvSpPr>
          <p:cNvPr id="3" name="Shape 10">
            <a:extLst>
              <a:ext uri="{FF2B5EF4-FFF2-40B4-BE49-F238E27FC236}">
                <a16:creationId xmlns:a16="http://schemas.microsoft.com/office/drawing/2014/main" id="{5C389DFF-BCBD-C173-B849-ECF72388413E}"/>
              </a:ext>
            </a:extLst>
          </p:cNvPr>
          <p:cNvSpPr/>
          <p:nvPr/>
        </p:nvSpPr>
        <p:spPr>
          <a:xfrm>
            <a:off x="457200" y="2233337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4555863C-A2C3-2C31-FD75-196C18C93FBC}"/>
              </a:ext>
            </a:extLst>
          </p:cNvPr>
          <p:cNvSpPr/>
          <p:nvPr/>
        </p:nvSpPr>
        <p:spPr>
          <a:xfrm>
            <a:off x="457200" y="22333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5" name="Text 12">
            <a:extLst>
              <a:ext uri="{FF2B5EF4-FFF2-40B4-BE49-F238E27FC236}">
                <a16:creationId xmlns:a16="http://schemas.microsoft.com/office/drawing/2014/main" id="{04B5C062-C271-7731-787A-3B75FE51AC1F}"/>
              </a:ext>
            </a:extLst>
          </p:cNvPr>
          <p:cNvSpPr/>
          <p:nvPr/>
        </p:nvSpPr>
        <p:spPr>
          <a:xfrm>
            <a:off x="1097280" y="2215049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/model</a:t>
            </a:r>
            <a:endParaRPr lang="en-US" sz="1600" dirty="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3ABD7197-62AE-5001-1CCB-7713E636CB20}"/>
              </a:ext>
            </a:extLst>
          </p:cNvPr>
          <p:cNvSpPr/>
          <p:nvPr/>
        </p:nvSpPr>
        <p:spPr>
          <a:xfrm>
            <a:off x="1097280" y="2617384"/>
            <a:ext cx="2955431" cy="1679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models you can choose</a:t>
            </a:r>
          </a:p>
          <a:p>
            <a:pPr marL="0" indent="0" algn="l"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cs typeface="Calibri" pitchFamily="34" charset="-120"/>
              </a:rPr>
              <a:t>But!! Usually list only major generation(opus/ sonnet/haiku…), no minor(4.8/ 4.7/ 4.6…)</a:t>
            </a:r>
          </a:p>
          <a:p>
            <a:pPr marL="0" indent="0" algn="l">
              <a:buNone/>
            </a:pPr>
            <a:endParaRPr lang="en-US" sz="1400" dirty="0">
              <a:solidFill>
                <a:schemeClr val="bg2">
                  <a:lumMod val="10000"/>
                </a:schemeClr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cs typeface="Calibri" pitchFamily="34" charset="-120"/>
              </a:rPr>
              <a:t>If you get Opus4.7 just choose it.</a:t>
            </a:r>
          </a:p>
          <a:p>
            <a:pPr marL="0" indent="0" algn="l"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cs typeface="Calibri" pitchFamily="34" charset="-120"/>
              </a:rPr>
              <a:t>If only “Opus” -&gt; go to Step3</a:t>
            </a:r>
          </a:p>
          <a:p>
            <a:pPr marL="0" indent="0" algn="l"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65F2EDB4-CAF4-FC5B-6C0D-E21DB1E33692}"/>
              </a:ext>
            </a:extLst>
          </p:cNvPr>
          <p:cNvSpPr/>
          <p:nvPr/>
        </p:nvSpPr>
        <p:spPr>
          <a:xfrm>
            <a:off x="457200" y="4932204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E6B94450-8C92-DAB2-3203-77273FB4185D}"/>
              </a:ext>
            </a:extLst>
          </p:cNvPr>
          <p:cNvSpPr/>
          <p:nvPr/>
        </p:nvSpPr>
        <p:spPr>
          <a:xfrm>
            <a:off x="457200" y="49322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3B37CF3E-257D-E318-7636-87A333852EDB}"/>
              </a:ext>
            </a:extLst>
          </p:cNvPr>
          <p:cNvSpPr/>
          <p:nvPr/>
        </p:nvSpPr>
        <p:spPr>
          <a:xfrm>
            <a:off x="1097280" y="491391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  Opus 4.7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79914EB6-8983-924D-06FD-D23D7B6F1ADA}"/>
              </a:ext>
            </a:extLst>
          </p:cNvPr>
          <p:cNvSpPr/>
          <p:nvPr/>
        </p:nvSpPr>
        <p:spPr>
          <a:xfrm>
            <a:off x="1097280" y="5244342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’ /model claude-opus-4-7’</a:t>
            </a:r>
            <a:endParaRPr lang="en-US" sz="1200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9E6B1ECE-21A1-BC74-F641-34E2B96C126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7481203F-3DAB-DB04-09A2-6B738952FC1C}"/>
              </a:ext>
            </a:extLst>
          </p:cNvPr>
          <p:cNvSpPr/>
          <p:nvPr/>
        </p:nvSpPr>
        <p:spPr>
          <a:xfrm>
            <a:off x="457200" y="118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 1</a:t>
            </a:r>
            <a:endParaRPr lang="en-US" sz="16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9D6D6B21-FBBE-2161-DCFA-A2E252E3DCAF}"/>
              </a:ext>
            </a:extLst>
          </p:cNvPr>
          <p:cNvSpPr/>
          <p:nvPr/>
        </p:nvSpPr>
        <p:spPr>
          <a:xfrm>
            <a:off x="1783080" y="118872"/>
            <a:ext cx="9948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in Terminal</a:t>
            </a:r>
            <a:endParaRPr lang="en-US" sz="1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314A6420-0226-A981-5291-EBB8F546588A}"/>
              </a:ext>
            </a:extLst>
          </p:cNvPr>
          <p:cNvSpPr/>
          <p:nvPr/>
        </p:nvSpPr>
        <p:spPr>
          <a:xfrm>
            <a:off x="457200" y="1600200"/>
            <a:ext cx="4399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change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666AAD-C3F4-1226-5DAA-9C9637CEB8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469"/>
          <a:stretch>
            <a:fillRect/>
          </a:stretch>
        </p:blipFill>
        <p:spPr>
          <a:xfrm>
            <a:off x="5211440" y="3765457"/>
            <a:ext cx="6563782" cy="209156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7ABB92-9021-D45B-6784-291BFCAD41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86" y="5501014"/>
            <a:ext cx="3487702" cy="35601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3D41C5E-5363-D3B9-E3D2-431FE963D096}"/>
                  </a:ext>
                </a:extLst>
              </p14:cNvPr>
              <p14:cNvContentPartPr/>
              <p14:nvPr/>
            </p14:nvContentPartPr>
            <p14:xfrm>
              <a:off x="4843800" y="2531902"/>
              <a:ext cx="229527" cy="314524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3D41C5E-5363-D3B9-E3D2-431FE963D09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35152" y="2523265"/>
                <a:ext cx="247183" cy="332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3D37CEF-603D-8491-A8FB-F55CCC08B8BC}"/>
                  </a:ext>
                </a:extLst>
              </p14:cNvPr>
              <p14:cNvContentPartPr/>
              <p14:nvPr/>
            </p14:nvContentPartPr>
            <p14:xfrm>
              <a:off x="3513027" y="2644493"/>
              <a:ext cx="1523160" cy="13014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3D37CEF-603D-8491-A8FB-F55CCC08B8B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04027" y="2635493"/>
                <a:ext cx="1540800" cy="131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42AFFBE6-CDB1-44BC-5612-0BF920EAD0B8}"/>
              </a:ext>
            </a:extLst>
          </p:cNvPr>
          <p:cNvGrpSpPr/>
          <p:nvPr/>
        </p:nvGrpSpPr>
        <p:grpSpPr>
          <a:xfrm>
            <a:off x="3207027" y="4228493"/>
            <a:ext cx="1917360" cy="256680"/>
            <a:chOff x="3207027" y="4228493"/>
            <a:chExt cx="191736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1A43568-52F7-CF83-3B2E-96CAC2F25F36}"/>
                    </a:ext>
                  </a:extLst>
                </p14:cNvPr>
                <p14:cNvContentPartPr/>
                <p14:nvPr/>
              </p14:nvContentPartPr>
              <p14:xfrm>
                <a:off x="3207027" y="4228493"/>
                <a:ext cx="1917360" cy="2196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1A43568-52F7-CF83-3B2E-96CAC2F25F3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198027" y="4219493"/>
                  <a:ext cx="19350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52F0766-72CE-A303-FC9D-FA0F1CD58651}"/>
                    </a:ext>
                  </a:extLst>
                </p14:cNvPr>
                <p14:cNvContentPartPr/>
                <p14:nvPr/>
              </p14:nvContentPartPr>
              <p14:xfrm>
                <a:off x="4883187" y="4456373"/>
                <a:ext cx="221400" cy="28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52F0766-72CE-A303-FC9D-FA0F1CD5865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74187" y="4447733"/>
                  <a:ext cx="239040" cy="46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2" name="Shape 25">
            <a:extLst>
              <a:ext uri="{FF2B5EF4-FFF2-40B4-BE49-F238E27FC236}">
                <a16:creationId xmlns:a16="http://schemas.microsoft.com/office/drawing/2014/main" id="{C4B7B7EB-7EC9-DC2D-057F-656238673E36}"/>
              </a:ext>
            </a:extLst>
          </p:cNvPr>
          <p:cNvSpPr/>
          <p:nvPr/>
        </p:nvSpPr>
        <p:spPr>
          <a:xfrm>
            <a:off x="4743027" y="5967960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58E52EEE-804E-42EE-7B60-C95D983CF0D2}"/>
              </a:ext>
            </a:extLst>
          </p:cNvPr>
          <p:cNvSpPr/>
          <p:nvPr/>
        </p:nvSpPr>
        <p:spPr>
          <a:xfrm>
            <a:off x="4971627" y="6059400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驗證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Claude Code 內輸入  /status  → 看 Model 那行是 claude-opus-4-7</a:t>
            </a:r>
            <a:endParaRPr lang="en-US" sz="1300" dirty="0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ED0F4946-A1B4-47E5-5982-C15936735A6F}"/>
              </a:ext>
            </a:extLst>
          </p:cNvPr>
          <p:cNvSpPr/>
          <p:nvPr/>
        </p:nvSpPr>
        <p:spPr>
          <a:xfrm>
            <a:off x="456636" y="907457"/>
            <a:ext cx="52888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Terminal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78387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120E6-2411-EE98-2B55-84ABABD2A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0">
            <a:extLst>
              <a:ext uri="{FF2B5EF4-FFF2-40B4-BE49-F238E27FC236}">
                <a16:creationId xmlns:a16="http://schemas.microsoft.com/office/drawing/2014/main" id="{F68B80DE-817A-6DE4-CB7E-F0E727670451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C0589E58-637F-B686-BD83-1D0D161321C6}"/>
              </a:ext>
            </a:extLst>
          </p:cNvPr>
          <p:cNvSpPr/>
          <p:nvPr/>
        </p:nvSpPr>
        <p:spPr>
          <a:xfrm>
            <a:off x="457200" y="118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 1</a:t>
            </a:r>
            <a:endParaRPr lang="en-US" sz="1600" dirty="0"/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2CC427A9-3A59-33F5-7603-34DF02FE9172}"/>
              </a:ext>
            </a:extLst>
          </p:cNvPr>
          <p:cNvSpPr/>
          <p:nvPr/>
        </p:nvSpPr>
        <p:spPr>
          <a:xfrm>
            <a:off x="1783080" y="118872"/>
            <a:ext cx="9948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Code in Terminal</a:t>
            </a:r>
            <a:endParaRPr lang="en-US" sz="16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47A04F70-0A3A-BF45-5CD6-9A3FE3A2AFAD}"/>
              </a:ext>
            </a:extLst>
          </p:cNvPr>
          <p:cNvSpPr/>
          <p:nvPr/>
        </p:nvSpPr>
        <p:spPr>
          <a:xfrm>
            <a:off x="457199" y="868680"/>
            <a:ext cx="911577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Terminal — Make it to default</a:t>
            </a:r>
            <a:endParaRPr lang="en-US" sz="36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D1E5BC73-28B9-35E5-25F6-04A8C54DBFF9}"/>
              </a:ext>
            </a:extLst>
          </p:cNvPr>
          <p:cNvSpPr/>
          <p:nvPr/>
        </p:nvSpPr>
        <p:spPr>
          <a:xfrm>
            <a:off x="457200" y="1600200"/>
            <a:ext cx="4399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change</a:t>
            </a:r>
            <a:endParaRPr lang="en-US" sz="14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32802EB-9C4B-2463-5FF4-545FC23D7E3F}"/>
              </a:ext>
            </a:extLst>
          </p:cNvPr>
          <p:cNvSpPr/>
          <p:nvPr/>
        </p:nvSpPr>
        <p:spPr>
          <a:xfrm>
            <a:off x="457199" y="2243102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F9A817C9-245F-FE54-1F33-7D1E4EA4294C}"/>
              </a:ext>
            </a:extLst>
          </p:cNvPr>
          <p:cNvSpPr/>
          <p:nvPr/>
        </p:nvSpPr>
        <p:spPr>
          <a:xfrm>
            <a:off x="457199" y="224310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F40FE4BC-CA8A-AD72-FCEB-DF2C53B8F13D}"/>
              </a:ext>
            </a:extLst>
          </p:cNvPr>
          <p:cNvSpPr/>
          <p:nvPr/>
        </p:nvSpPr>
        <p:spPr>
          <a:xfrm>
            <a:off x="1097279" y="222481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your agent to do</a:t>
            </a:r>
            <a:r>
              <a:rPr lang="zh-TW" alt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</a:t>
            </a:r>
            <a:endParaRPr lang="en-US" sz="1600" dirty="0">
              <a:solidFill>
                <a:srgbClr val="FF0000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C1175EB-0518-82F1-AE73-62E44EA4D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352" y="1847850"/>
            <a:ext cx="5232400" cy="3162300"/>
          </a:xfrm>
          <a:prstGeom prst="rect">
            <a:avLst/>
          </a:prstGeom>
        </p:spPr>
      </p:pic>
      <p:sp>
        <p:nvSpPr>
          <p:cNvPr id="24" name="Text 21">
            <a:extLst>
              <a:ext uri="{FF2B5EF4-FFF2-40B4-BE49-F238E27FC236}">
                <a16:creationId xmlns:a16="http://schemas.microsoft.com/office/drawing/2014/main" id="{DE4FD969-FD47-151D-0E02-880B8A2ED282}"/>
              </a:ext>
            </a:extLst>
          </p:cNvPr>
          <p:cNvSpPr/>
          <p:nvPr/>
        </p:nvSpPr>
        <p:spPr>
          <a:xfrm>
            <a:off x="1097279" y="2524619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 ~/.claude/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 will active in the new session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Sometimes your agent will push back and try to convince you to stay in 4.8</a:t>
            </a:r>
            <a:endParaRPr lang="en-US" sz="12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8C91A931-9ABC-CAD4-B238-9375017A36E9}"/>
              </a:ext>
            </a:extLst>
          </p:cNvPr>
          <p:cNvSpPr/>
          <p:nvPr/>
        </p:nvSpPr>
        <p:spPr>
          <a:xfrm>
            <a:off x="457199" y="3828515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4" name="Text 19">
            <a:extLst>
              <a:ext uri="{FF2B5EF4-FFF2-40B4-BE49-F238E27FC236}">
                <a16:creationId xmlns:a16="http://schemas.microsoft.com/office/drawing/2014/main" id="{37987577-BC42-50D0-3471-DBD36415B669}"/>
              </a:ext>
            </a:extLst>
          </p:cNvPr>
          <p:cNvSpPr/>
          <p:nvPr/>
        </p:nvSpPr>
        <p:spPr>
          <a:xfrm>
            <a:off x="457199" y="3828515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4275C134-157D-1170-C390-29D1E389386D}"/>
              </a:ext>
            </a:extLst>
          </p:cNvPr>
          <p:cNvSpPr/>
          <p:nvPr/>
        </p:nvSpPr>
        <p:spPr>
          <a:xfrm>
            <a:off x="1097279" y="3810227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edit </a:t>
            </a:r>
            <a:r>
              <a:rPr lang="en-US" sz="1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</a:t>
            </a:r>
            <a:endParaRPr lang="en-US" sz="1600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F79A681C-58B0-A919-2505-426DC7C795B9}"/>
              </a:ext>
            </a:extLst>
          </p:cNvPr>
          <p:cNvSpPr/>
          <p:nvPr/>
        </p:nvSpPr>
        <p:spPr>
          <a:xfrm>
            <a:off x="1097279" y="4110031"/>
            <a:ext cx="4846320" cy="912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 ~/.claude/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</a:t>
            </a: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Change: "model": "claude-opus-4-7",</a:t>
            </a:r>
          </a:p>
          <a:p>
            <a:pPr marL="0" indent="0" algn="l"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8902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57200" y="118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18872"/>
            <a:ext cx="9948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Code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VS Code 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00199"/>
            <a:ext cx="5943600" cy="937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/>
              <a:t>VS code /model list only major generations too, and </a:t>
            </a:r>
            <a:r>
              <a:rPr lang="en-US" sz="2000" b="1" dirty="0"/>
              <a:t>NOT</a:t>
            </a:r>
            <a:r>
              <a:rPr lang="en-US" sz="2000" dirty="0"/>
              <a:t> support /model input</a:t>
            </a:r>
          </a:p>
        </p:txBody>
      </p:sp>
      <p:sp>
        <p:nvSpPr>
          <p:cNvPr id="29" name="Text 27"/>
          <p:cNvSpPr/>
          <p:nvPr/>
        </p:nvSpPr>
        <p:spPr>
          <a:xfrm>
            <a:off x="10972800" y="6446520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AB233F8D-D3A9-C554-E534-A157CE924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416" y="1653257"/>
            <a:ext cx="4419600" cy="1168400"/>
          </a:xfrm>
          <a:prstGeom prst="rect">
            <a:avLst/>
          </a:prstGeom>
        </p:spPr>
      </p:pic>
      <p:sp>
        <p:nvSpPr>
          <p:cNvPr id="31" name="Text 5">
            <a:extLst>
              <a:ext uri="{FF2B5EF4-FFF2-40B4-BE49-F238E27FC236}">
                <a16:creationId xmlns:a16="http://schemas.microsoft.com/office/drawing/2014/main" id="{D1A89F7D-C62E-7012-0C0E-A41977B452CA}"/>
              </a:ext>
            </a:extLst>
          </p:cNvPr>
          <p:cNvSpPr/>
          <p:nvPr/>
        </p:nvSpPr>
        <p:spPr>
          <a:xfrm>
            <a:off x="437474" y="3168228"/>
            <a:ext cx="4399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change</a:t>
            </a:r>
            <a:endParaRPr lang="en-US" sz="1400" dirty="0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049EDF15-5AC9-719D-0820-A57771D63750}"/>
              </a:ext>
            </a:extLst>
          </p:cNvPr>
          <p:cNvSpPr/>
          <p:nvPr/>
        </p:nvSpPr>
        <p:spPr>
          <a:xfrm>
            <a:off x="457200" y="3710179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5B2D4821-25A5-AFCE-BFDF-2F77A7A598C5}"/>
              </a:ext>
            </a:extLst>
          </p:cNvPr>
          <p:cNvSpPr/>
          <p:nvPr/>
        </p:nvSpPr>
        <p:spPr>
          <a:xfrm>
            <a:off x="457200" y="371017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8C023AF5-6AAC-483B-2E99-F3945D4F1EAB}"/>
              </a:ext>
            </a:extLst>
          </p:cNvPr>
          <p:cNvSpPr/>
          <p:nvPr/>
        </p:nvSpPr>
        <p:spPr>
          <a:xfrm>
            <a:off x="1097280" y="369189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use </a:t>
            </a:r>
            <a:r>
              <a:rPr lang="en-US" sz="1600" b="1">
                <a:solidFill>
                  <a:srgbClr val="1A1A1A"/>
                </a:solidFill>
                <a:latin typeface="Calibri" pitchFamily="34" charset="0"/>
                <a:cs typeface="Calibri" pitchFamily="34" charset="-120"/>
              </a:rPr>
              <a:t>embedded terminal</a:t>
            </a:r>
            <a:endParaRPr lang="en-US" sz="1600" b="1" dirty="0">
              <a:solidFill>
                <a:srgbClr val="1A1A1A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1F0F93DE-F61C-5FF8-7866-0B19C9F9CE54}"/>
              </a:ext>
            </a:extLst>
          </p:cNvPr>
          <p:cNvSpPr/>
          <p:nvPr/>
        </p:nvSpPr>
        <p:spPr>
          <a:xfrm>
            <a:off x="1097280" y="4041648"/>
            <a:ext cx="3474720" cy="1216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code, press “Ctrl+~”</a:t>
            </a:r>
          </a:p>
          <a:p>
            <a:r>
              <a:rPr lang="en-US" dirty="0">
                <a:solidFill>
                  <a:srgbClr val="6B7280"/>
                </a:solidFill>
                <a:latin typeface="Calibri" pitchFamily="34" charset="0"/>
                <a:cs typeface="Calibri" pitchFamily="34" charset="-120"/>
              </a:rPr>
              <a:t>In the embedded terminal:  </a:t>
            </a:r>
            <a:r>
              <a:rPr lang="en-US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’ /model claude-opus-4-7’</a:t>
            </a:r>
            <a:endParaRPr lang="en-US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D830EBA-4970-1709-0975-E106984D2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99" y="2864408"/>
            <a:ext cx="5624689" cy="415013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FB0DBA0-D767-E645-85B2-D544B329BE8D}"/>
                  </a:ext>
                </a:extLst>
              </p14:cNvPr>
              <p14:cNvContentPartPr/>
              <p14:nvPr/>
            </p14:nvContentPartPr>
            <p14:xfrm>
              <a:off x="6489507" y="5061173"/>
              <a:ext cx="5356440" cy="1724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FB0DBA0-D767-E645-85B2-D544B329BE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480867" y="5052533"/>
                <a:ext cx="5374080" cy="174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9EAAB0D1-6CE7-1E95-3D32-FB90DC3ED5B5}"/>
              </a:ext>
            </a:extLst>
          </p:cNvPr>
          <p:cNvGrpSpPr/>
          <p:nvPr/>
        </p:nvGrpSpPr>
        <p:grpSpPr>
          <a:xfrm>
            <a:off x="3811107" y="4708373"/>
            <a:ext cx="2714040" cy="1149840"/>
            <a:chOff x="3811107" y="4708373"/>
            <a:chExt cx="2714040" cy="114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5DA1B6-93A2-A82A-2F36-21661DC0E31D}"/>
                    </a:ext>
                  </a:extLst>
                </p14:cNvPr>
                <p14:cNvContentPartPr/>
                <p14:nvPr/>
              </p14:nvContentPartPr>
              <p14:xfrm>
                <a:off x="3811107" y="4708373"/>
                <a:ext cx="2714040" cy="9781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5DA1B6-93A2-A82A-2F36-21661DC0E31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802467" y="4699733"/>
                  <a:ext cx="2731680" cy="9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C781F3F-6751-D3D5-F05F-E997967808DD}"/>
                    </a:ext>
                  </a:extLst>
                </p14:cNvPr>
                <p14:cNvContentPartPr/>
                <p14:nvPr/>
              </p14:nvContentPartPr>
              <p14:xfrm>
                <a:off x="5907027" y="5438813"/>
                <a:ext cx="586440" cy="419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C781F3F-6751-D3D5-F05F-E997967808D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898387" y="5430173"/>
                  <a:ext cx="604080" cy="4370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54C6BC-2F6C-1A76-B356-6316C2376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28C025-297B-BB42-09B6-63554B9124C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82CE72F-3532-43BF-8A4C-7693E9F5B4CE}"/>
              </a:ext>
            </a:extLst>
          </p:cNvPr>
          <p:cNvSpPr/>
          <p:nvPr/>
        </p:nvSpPr>
        <p:spPr>
          <a:xfrm>
            <a:off x="457200" y="118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 2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75A433-5B72-DF8E-5F36-B6B06B911C59}"/>
              </a:ext>
            </a:extLst>
          </p:cNvPr>
          <p:cNvSpPr/>
          <p:nvPr/>
        </p:nvSpPr>
        <p:spPr>
          <a:xfrm>
            <a:off x="1783080" y="118872"/>
            <a:ext cx="9948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VS Code 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編輯設定檔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004543-3AE6-B16A-E4AD-B36EB4E3A16E}"/>
              </a:ext>
            </a:extLst>
          </p:cNvPr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In VS Code – make it default </a:t>
            </a:r>
            <a:endParaRPr lang="en-US" sz="3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4EE6AB-56B0-B797-2FF9-F4BB22F9C641}"/>
              </a:ext>
            </a:extLst>
          </p:cNvPr>
          <p:cNvSpPr/>
          <p:nvPr/>
        </p:nvSpPr>
        <p:spPr>
          <a:xfrm>
            <a:off x="45720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</a:t>
            </a:r>
            <a:r>
              <a:rPr lang="en-US" sz="1400" i="1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</a:t>
            </a: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VS code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9A60DC6-3979-77EB-AD5D-9EF308A17632}"/>
              </a:ext>
            </a:extLst>
          </p:cNvPr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5E1CBD5-61F0-9C2D-2DD3-6111BFA8379E}"/>
              </a:ext>
            </a:extLst>
          </p:cNvPr>
          <p:cNvSpPr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A8E25D0-93C2-4D8B-462F-04EA2DE4F9B7}"/>
              </a:ext>
            </a:extLst>
          </p:cNvPr>
          <p:cNvSpPr/>
          <p:nvPr/>
        </p:nvSpPr>
        <p:spPr>
          <a:xfrm>
            <a:off x="1097280" y="21762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600" b="1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settings.json</a:t>
            </a: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VS Code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BDEBD4F-294C-694E-1B77-D0519DB135C5}"/>
              </a:ext>
            </a:extLst>
          </p:cNvPr>
          <p:cNvSpPr/>
          <p:nvPr/>
        </p:nvSpPr>
        <p:spPr>
          <a:xfrm>
            <a:off x="1097280" y="257860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embedded  terminal </a:t>
            </a:r>
            <a:r>
              <a:rPr lang="en-US" sz="12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run：code</a:t>
            </a: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~/.claude/settings.json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4F9A623-5BCB-D8CD-D6DC-8BC2F414B0FF}"/>
              </a:ext>
            </a:extLst>
          </p:cNvPr>
          <p:cNvSpPr/>
          <p:nvPr/>
        </p:nvSpPr>
        <p:spPr>
          <a:xfrm>
            <a:off x="457200" y="3000198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9C6755A-ECF0-F4F7-808B-B297063EBE72}"/>
              </a:ext>
            </a:extLst>
          </p:cNvPr>
          <p:cNvSpPr/>
          <p:nvPr/>
        </p:nvSpPr>
        <p:spPr>
          <a:xfrm>
            <a:off x="457200" y="300019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2FDB661-6C34-D756-1C19-E03922C66B56}"/>
              </a:ext>
            </a:extLst>
          </p:cNvPr>
          <p:cNvSpPr/>
          <p:nvPr/>
        </p:nvSpPr>
        <p:spPr>
          <a:xfrm>
            <a:off x="1097280" y="298191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“model” or add one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B93AAC0-2A1E-A125-CA2E-1E6B9C5AB0F0}"/>
              </a:ext>
            </a:extLst>
          </p:cNvPr>
          <p:cNvSpPr/>
          <p:nvPr/>
        </p:nvSpPr>
        <p:spPr>
          <a:xfrm>
            <a:off x="1097280" y="3384246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"model": "claude-opus-4-7” on the top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1A4A330-9059-0709-306F-FF4029B99503}"/>
              </a:ext>
            </a:extLst>
          </p:cNvPr>
          <p:cNvSpPr/>
          <p:nvPr/>
        </p:nvSpPr>
        <p:spPr>
          <a:xfrm>
            <a:off x="457200" y="3831199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5033A6D-AA64-19B5-7B54-E8A83676E16F}"/>
              </a:ext>
            </a:extLst>
          </p:cNvPr>
          <p:cNvSpPr/>
          <p:nvPr/>
        </p:nvSpPr>
        <p:spPr>
          <a:xfrm>
            <a:off x="457200" y="383119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BC27DAB-E6A3-4B4D-C7CB-9CD1BFF5304F}"/>
              </a:ext>
            </a:extLst>
          </p:cNvPr>
          <p:cNvSpPr/>
          <p:nvPr/>
        </p:nvSpPr>
        <p:spPr>
          <a:xfrm>
            <a:off x="1097280" y="3812911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Save（⌘S / Ctrl+S）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09C1467-E0D8-DF66-DF73-2144D239E075}"/>
              </a:ext>
            </a:extLst>
          </p:cNvPr>
          <p:cNvSpPr/>
          <p:nvPr/>
        </p:nvSpPr>
        <p:spPr>
          <a:xfrm>
            <a:off x="1097280" y="4192130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會自動驗證 JSON 語法，紅線就是壞掉了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AA7FB8E-469C-EAFC-25AA-83DBF12C1C98}"/>
              </a:ext>
            </a:extLst>
          </p:cNvPr>
          <p:cNvSpPr/>
          <p:nvPr/>
        </p:nvSpPr>
        <p:spPr>
          <a:xfrm>
            <a:off x="457200" y="5212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10E4F3E-BAED-68A2-8682-A5B96E5B9EBD}"/>
              </a:ext>
            </a:extLst>
          </p:cNvPr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9CF493-B098-FAE1-E010-4BDBC0FF8648}"/>
              </a:ext>
            </a:extLst>
          </p:cNvPr>
          <p:cNvSpPr/>
          <p:nvPr/>
        </p:nvSpPr>
        <p:spPr>
          <a:xfrm>
            <a:off x="1097280" y="51937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C364EC50-2619-1E72-1A29-CC0D05C600EB}"/>
              </a:ext>
            </a:extLst>
          </p:cNvPr>
          <p:cNvSpPr/>
          <p:nvPr/>
        </p:nvSpPr>
        <p:spPr>
          <a:xfrm>
            <a:off x="1097280" y="5518403"/>
            <a:ext cx="2390987" cy="928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/>
              <a:t>New session or: </a:t>
            </a:r>
          </a:p>
          <a:p>
            <a:pPr marL="0" indent="0" algn="l">
              <a:buNone/>
            </a:pPr>
            <a:r>
              <a:rPr lang="en-US" sz="1200" dirty="0" err="1"/>
              <a:t>Command+Shift+P</a:t>
            </a:r>
            <a:r>
              <a:rPr lang="en-US" sz="1200" dirty="0"/>
              <a:t> -&gt; choose “Developer: Reload Window” (keep the context)</a:t>
            </a: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47E77EE-BA6E-D5B5-4F15-7FF5CF9F3291}"/>
              </a:ext>
            </a:extLst>
          </p:cNvPr>
          <p:cNvSpPr/>
          <p:nvPr/>
        </p:nvSpPr>
        <p:spPr>
          <a:xfrm>
            <a:off x="10972800" y="6446520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10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2114B42-516D-5119-AD0D-CA434BCFD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03491"/>
            <a:ext cx="6748272" cy="49791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43BF2933-BE0A-119A-0538-1C99F6027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5362843"/>
            <a:ext cx="7772400" cy="132192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2A912E4-1619-1AD4-209A-C5AF93CD7237}"/>
              </a:ext>
            </a:extLst>
          </p:cNvPr>
          <p:cNvSpPr txBox="1"/>
          <p:nvPr/>
        </p:nvSpPr>
        <p:spPr>
          <a:xfrm>
            <a:off x="457200" y="4630682"/>
            <a:ext cx="33639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ask your agent to do</a:t>
            </a:r>
            <a:r>
              <a:rPr lang="zh-TW" altLang="en-US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zh-TW" sz="1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0216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F45D7-B1ED-FB31-90D2-5DA09EF4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3D2AE9-907A-6A12-F132-ECCA3656F392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AC97B0-E5B9-24AD-7305-BA7095CFE4A9}"/>
              </a:ext>
            </a:extLst>
          </p:cNvPr>
          <p:cNvSpPr/>
          <p:nvPr/>
        </p:nvSpPr>
        <p:spPr>
          <a:xfrm>
            <a:off x="457200" y="118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2F0E6B-08AD-2E9B-B58B-2BF12596A5DA}"/>
              </a:ext>
            </a:extLst>
          </p:cNvPr>
          <p:cNvSpPr/>
          <p:nvPr/>
        </p:nvSpPr>
        <p:spPr>
          <a:xfrm>
            <a:off x="1783080" y="118872"/>
            <a:ext cx="9948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Claude Desktop</a:t>
            </a:r>
            <a:endParaRPr lang="en-US" sz="16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77F4A17-CE0C-AB33-8939-5A489BD1D5F8}"/>
              </a:ext>
            </a:extLst>
          </p:cNvPr>
          <p:cNvSpPr/>
          <p:nvPr/>
        </p:nvSpPr>
        <p:spPr>
          <a:xfrm>
            <a:off x="10972800" y="6446520"/>
            <a:ext cx="75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DCEA4B0-5C99-2089-0583-39EC77628F8E}"/>
              </a:ext>
            </a:extLst>
          </p:cNvPr>
          <p:cNvSpPr txBox="1"/>
          <p:nvPr/>
        </p:nvSpPr>
        <p:spPr>
          <a:xfrm>
            <a:off x="8173154" y="1106311"/>
            <a:ext cx="3375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TW" dirty="0"/>
              <a:t>At this moment(2026 June)</a:t>
            </a:r>
          </a:p>
          <a:p>
            <a:r>
              <a:rPr lang="en-TW" dirty="0"/>
              <a:t>Opus4.7 with effort=high is a sweet balance to our budget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286028EE-A466-2219-EDDC-845B8CA25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049" y="2437503"/>
            <a:ext cx="5407484" cy="360115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CAD010C-150D-934D-553A-9275072116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27" y="906515"/>
            <a:ext cx="5729099" cy="3061976"/>
          </a:xfrm>
          <a:prstGeom prst="rect">
            <a:avLst/>
          </a:prstGeom>
        </p:spPr>
      </p:pic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D17BE2E0-926C-4C3B-C84B-C733DFACB086}"/>
              </a:ext>
            </a:extLst>
          </p:cNvPr>
          <p:cNvCxnSpPr>
            <a:stCxn id="34" idx="2"/>
            <a:endCxn id="33" idx="1"/>
          </p:cNvCxnSpPr>
          <p:nvPr/>
        </p:nvCxnSpPr>
        <p:spPr>
          <a:xfrm rot="16200000" flipH="1">
            <a:off x="4458919" y="2555949"/>
            <a:ext cx="269589" cy="3094672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480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457200" y="118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</a:t>
            </a:r>
            <a:r>
              <a:rPr lang="en-US" sz="1600" b="1" dirty="0">
                <a:solidFill>
                  <a:srgbClr val="FF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83080" y="118872"/>
            <a:ext cx="9948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Advanced - Cli setup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 Claude Code 預設 model = Opus 4.7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— </a:t>
            </a:r>
            <a:r>
              <a:rPr lang="en-US" sz="3600" b="1" dirty="0" err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完全不開 GUI，可寫進 setup script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21762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 settings.json 存在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沒裝過 Claude Code 的話這檔案還沒生成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1821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jq 改寫 model 欄位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58444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保留其他欄位，原子操作（temp file + mv）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18795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59028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 '.model' 應該回傳 "claude-opus-4-7"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212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457200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1937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重開 Claude Code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5596128"/>
            <a:ext cx="4846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 session 才會吃到新設定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194560"/>
            <a:ext cx="5422392" cy="2926080"/>
          </a:xfrm>
          <a:prstGeom prst="roundRect">
            <a:avLst>
              <a:gd name="adj" fmla="val 2500"/>
            </a:avLst>
          </a:prstGeom>
          <a:solidFill>
            <a:srgbClr val="0F1A3D"/>
          </a:solidFill>
          <a:ln w="12700">
            <a:solidFill>
              <a:srgbClr val="0F1A3D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6492240" y="2267712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shell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560320"/>
            <a:ext cx="50566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B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確認檔案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ls ~/.claude/settings.json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8BA3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用 jq 改寫（保留其他欄位）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jq '.model = "claude-opus-4-7"' \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~/.claude/settings.json &gt; /tmp/s.json \
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&amp;&amp; mv /tmp/s.json ~/.claude/settings.json
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09360" y="5257800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 w="63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8" name="Text 26"/>
          <p:cNvSpPr/>
          <p:nvPr/>
        </p:nvSpPr>
        <p:spPr>
          <a:xfrm>
            <a:off x="6537960" y="5349240"/>
            <a:ext cx="4965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驗證  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跑 jq '.model' ~/.claude/settings.json 應回傳 "claude-opus-4-7"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b50d67e-2428-41a1-85f0-bee73fd61572}" enabled="1" method="Privileged" siteId="{3e04753a-ae5b-42d4-a86d-d6f05460f9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562</Words>
  <Application>Microsoft Macintosh PowerPoint</Application>
  <PresentationFormat>Widescreen</PresentationFormat>
  <Paragraphs>106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Karen Shen (UX-AS)</cp:lastModifiedBy>
  <cp:revision>8</cp:revision>
  <dcterms:created xsi:type="dcterms:W3CDTF">2026-06-18T03:36:28Z</dcterms:created>
  <dcterms:modified xsi:type="dcterms:W3CDTF">2026-06-18T06:13:31Z</dcterms:modified>
</cp:coreProperties>
</file>